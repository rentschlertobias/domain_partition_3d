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02020"/>
                </a:solidFill>
              </a:defRPr>
            </a:pPr>
            <a:r>
              <a:t>T1_9 Turbine Hub ---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03030"/>
                </a:solidFill>
              </a:defRPr>
            </a:pPr>
            <a:r>
              <a:t>T1_9 turbine hub: cylindrical surface at constant radius</a:t>
            </a:r>
          </a:p>
          <a:p>
            <a:pPr>
              <a:spcAft>
                <a:spcPts val="1200"/>
              </a:spcAft>
              <a:defRPr sz="2000">
                <a:solidFill>
                  <a:srgbClr val="303030"/>
                </a:solidFill>
              </a:defRPr>
            </a:pPr>
            <a:r>
              <a:t>Input: T1_9_hub_raw.stl (raw triangulated surface)</a:t>
            </a:r>
          </a:p>
          <a:p>
            <a:pPr>
              <a:spcAft>
                <a:spcPts val="1200"/>
              </a:spcAft>
              <a:defRPr sz="2000">
                <a:solidFill>
                  <a:srgbClr val="303030"/>
                </a:solidFill>
              </a:defRPr>
            </a:pPr>
            <a:r>
              <a:t>Goal: extract quadrilateral block structure for CFD meshing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937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 i="1">
                <a:solidFill>
                  <a:srgbClr val="404040"/>
                </a:solidFill>
              </a:defRPr>
            </a:pPr>
            <a:r>
              <a:t>arrow</a:t>
            </a:r>
          </a:p>
          <a:p>
            <a:pPr algn="ctr">
              <a:spcAft>
                <a:spcPts val="800"/>
              </a:spcAft>
              <a:defRPr sz="1800" i="1">
                <a:solidFill>
                  <a:srgbClr val="404040"/>
                </a:solidFill>
              </a:defRPr>
            </a:pPr>
            <a:r>
              <a:t>arrow</a:t>
            </a:r>
          </a:p>
          <a:p>
            <a:pPr algn="ctr">
              <a:spcAft>
                <a:spcPts val="800"/>
              </a:spcAft>
              <a:defRPr sz="1800" i="1">
                <a:solidFill>
                  <a:srgbClr val="404040"/>
                </a:solidFill>
              </a:defRPr>
            </a:pPr>
            <a:r>
              <a:t>arrow</a:t>
            </a:r>
          </a:p>
          <a:p>
            <a:pPr algn="ctr">
              <a:spcAft>
                <a:spcPts val="800"/>
              </a:spcAft>
              <a:defRPr sz="1800" i="1">
                <a:solidFill>
                  <a:srgbClr val="404040"/>
                </a:solidFill>
              </a:defRPr>
            </a:pPr>
            <a:r>
              <a:t>arrow</a:t>
            </a:r>
          </a:p>
          <a:p>
            <a:pPr algn="ctr">
              <a:spcAft>
                <a:spcPts val="800"/>
              </a:spcAft>
              <a:defRPr sz="1800" i="1">
                <a:solidFill>
                  <a:srgbClr val="404040"/>
                </a:solidFill>
              </a:defRPr>
            </a:pPr>
            <a:r>
              <a:t>arrow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02020"/>
                </a:solidFill>
              </a:defRPr>
            </a:pPr>
            <a:r>
              <a:t>Unwrapped Hub Surface --- Cylindrical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03030"/>
                </a:solidFill>
              </a:defRPr>
            </a:pPr>
            <a:r>
              <a:t>Isometric mapping: distortion-free, preserves triangulation</a:t>
            </a:r>
          </a:p>
          <a:p>
            <a:pPr>
              <a:spcAft>
                <a:spcPts val="1200"/>
              </a:spcAft>
              <a:defRPr sz="2000">
                <a:solidFill>
                  <a:srgbClr val="303030"/>
                </a:solidFill>
              </a:defRPr>
            </a:pPr>
            <a:r>
              <a:t>Domain becomes rectangular with a blade-shaped hole</a:t>
            </a:r>
          </a:p>
          <a:p>
            <a:pPr>
              <a:spcAft>
                <a:spcPts val="1200"/>
              </a:spcAft>
              <a:defRPr sz="2000">
                <a:solidFill>
                  <a:srgbClr val="303030"/>
                </a:solidFill>
              </a:defRPr>
            </a:pPr>
            <a:r>
              <a:t>Periodic $\theta$-boundaries (pitch = $\pi/4$ for 8 blades)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 i="1">
                <a:solidFill>
                  <a:srgbClr val="404040"/>
                </a:solidFill>
              </a:defRPr>
            </a:pPr>
            <a:r>
              <a:t>\theta = \arctan(\frac{y}{x}), </a:t>
            </a:r>
            <a:br/>
            <a:r>
              <a:t>s = r \cdot \theta, </a:t>
            </a:r>
            <a:br/>
            <a:r>
              <a:t>t = z</a:t>
            </a:r>
          </a:p>
          <a:p>
            <a:pPr algn="ctr">
              <a:spcAft>
                <a:spcPts val="800"/>
              </a:spcAft>
              <a:defRPr sz="1800" i="1">
                <a:solidFill>
                  <a:srgbClr val="404040"/>
                </a:solidFill>
              </a:defRPr>
            </a:pPr>
            <a:r>
              <a:t>\theta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02020"/>
                </a:solidFill>
              </a:defRPr>
            </a:pPr>
            <a:r>
              <a:t>Boundary Crosses --- 4-RoSy Cross-Field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03030"/>
                </a:solidFill>
              </a:defRPr>
            </a:pPr>
            <a:r>
              <a:t>4-RoSy field: invariant under $90^\circ$ rotation</a:t>
            </a:r>
          </a:p>
          <a:p>
            <a:pPr>
              <a:spcAft>
                <a:spcPts val="1200"/>
              </a:spcAft>
              <a:defRPr sz="2000">
                <a:solidFill>
                  <a:srgbClr val="303030"/>
                </a:solidFill>
              </a:defRPr>
            </a:pPr>
            <a:r>
              <a:t>Representative vector encodes direction modulo $\pi/2$</a:t>
            </a:r>
          </a:p>
          <a:p>
            <a:pPr>
              <a:spcAft>
                <a:spcPts val="1200"/>
              </a:spcAft>
              <a:defRPr sz="2000">
                <a:solidFill>
                  <a:srgbClr val="303030"/>
                </a:solidFill>
              </a:defRPr>
            </a:pPr>
            <a:r>
              <a:t>Boundary-aligned via Dirichlet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 i="1">
                <a:solidFill>
                  <a:srgbClr val="404040"/>
                </a:solidFill>
              </a:defRPr>
            </a:pPr>
            <a:r>
              <a:t>\mathbf{c}(x) = (\cos 4\theta(x), \sin 4\theta(x))</a:t>
            </a:r>
          </a:p>
          <a:p>
            <a:pPr algn="ctr">
              <a:spcAft>
                <a:spcPts val="800"/>
              </a:spcAft>
              <a:defRPr sz="1800" i="1">
                <a:solidFill>
                  <a:srgbClr val="404040"/>
                </a:solidFill>
              </a:defRPr>
            </a:pPr>
            <a:r>
              <a:t>90^\circ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02020"/>
                </a:solidFill>
              </a:defRPr>
            </a:pPr>
            <a:r>
              <a:t>Cross-Field $arrow$ Representative Vector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03030"/>
                </a:solidFill>
              </a:defRPr>
            </a:pPr>
            <a:r>
              <a:t>Each cross has 4 symmetric representatives (rotated by $\pi/2$)</a:t>
            </a:r>
          </a:p>
          <a:p>
            <a:pPr>
              <a:spcAft>
                <a:spcPts val="1200"/>
              </a:spcAft>
              <a:defRPr sz="2000">
                <a:solidFill>
                  <a:srgbClr val="303030"/>
                </a:solidFill>
              </a:defRPr>
            </a:pPr>
            <a:r>
              <a:t>Pick the one closest to the desired direction</a:t>
            </a:r>
          </a:p>
          <a:p>
            <a:pPr>
              <a:spcAft>
                <a:spcPts val="1200"/>
              </a:spcAft>
              <a:defRPr sz="2000">
                <a:solidFill>
                  <a:srgbClr val="303030"/>
                </a:solidFill>
              </a:defRPr>
            </a:pPr>
            <a:r>
              <a:t>Enables streamline integration along smooth field 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 i="1">
                <a:solidFill>
                  <a:srgbClr val="404040"/>
                </a:solidFill>
              </a:defRPr>
            </a:pPr>
            <a:r>
              <a:t>\mathbf{v}(x) = \arg\max_{\mathbf{c} \in cross(x)} \langle \mathbf{c}, \mathbf{d}(x) \rangle</a:t>
            </a:r>
          </a:p>
          <a:p>
            <a:pPr algn="ctr">
              <a:spcAft>
                <a:spcPts val="800"/>
              </a:spcAft>
              <a:defRPr sz="1800" i="1">
                <a:solidFill>
                  <a:srgbClr val="404040"/>
                </a:solidFill>
              </a:defRPr>
            </a:pPr>
            <a:r>
              <a:t>\mathbf{d}(x)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i="1">
                <a:solidFill>
                  <a:srgbClr val="606060"/>
                </a:solidFill>
              </a:defRPr>
            </a:pPr>
            <a:r>
              <a:t>Citation: Kn\"{o}ppel et al., "Globally optimal direction fields," SIGGRAPH 2013.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02020"/>
                </a:solidFill>
              </a:defRPr>
            </a:pPr>
            <a:r>
              <a:t>Frame Field --- Harmonic Laplace + Dirichlet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03030"/>
                </a:solidFill>
              </a:defRPr>
            </a:pPr>
            <a:r>
              <a:t>Solve harmonic Laplace for a smooth angle field inside the domain</a:t>
            </a:r>
          </a:p>
          <a:p>
            <a:pPr>
              <a:spcAft>
                <a:spcPts val="1200"/>
              </a:spcAft>
              <a:defRPr sz="2000">
                <a:solidFill>
                  <a:srgbClr val="303030"/>
                </a:solidFill>
              </a:defRPr>
            </a:pPr>
            <a:r>
              <a:t>Dirichlet BC: boundary values align with wall cross-vectors (4-RoSy)</a:t>
            </a:r>
          </a:p>
          <a:p>
            <a:pPr>
              <a:spcAft>
                <a:spcPts val="1200"/>
              </a:spcAft>
              <a:defRPr sz="2000">
                <a:solidFill>
                  <a:srgbClr val="303030"/>
                </a:solidFill>
              </a:defRPr>
            </a:pPr>
            <a:r>
              <a:t>Normalize to extract the 4-RoSy representative ($\mod \pi/2$)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 i="1">
                <a:solidFill>
                  <a:srgbClr val="404040"/>
                </a:solidFill>
              </a:defRPr>
            </a:pPr>
            <a:r>
              <a:t>\Delta \theta = 0 s.t. \theta|_{\partial\Omega} = \theta_{wall}</a:t>
            </a:r>
          </a:p>
          <a:p>
            <a:pPr algn="ctr">
              <a:spcAft>
                <a:spcPts val="800"/>
              </a:spcAft>
              <a:defRPr sz="1800" i="1">
                <a:solidFill>
                  <a:srgbClr val="404040"/>
                </a:solidFill>
              </a:defRPr>
            </a:pPr>
            <a:r>
              <a:t>\mod \pi/2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i="1">
                <a:solidFill>
                  <a:srgbClr val="606060"/>
                </a:solidFill>
              </a:defRPr>
            </a:pPr>
            <a:r>
              <a:t>Citation: } Kn\"{o}ppel et al., "Globally optimal direction fields", SIGGRAPH 2013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02020"/>
                </a:solidFill>
              </a:defRPr>
            </a:pPr>
            <a:r>
              <a:t>Singularities --- Index &amp; Poincar\'{e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03030"/>
                </a:solidFill>
              </a:defRPr>
            </a:pPr>
            <a:r>
              <a:t>4 tip singularities, each with index $-\tfrac{1}{4}$</a:t>
            </a:r>
          </a:p>
          <a:p>
            <a:pPr>
              <a:spcAft>
                <a:spcPts val="1200"/>
              </a:spcAft>
              <a:defRPr sz="2000">
                <a:solidFill>
                  <a:srgbClr val="303030"/>
                </a:solidFill>
              </a:defRPr>
            </a:pPr>
            <a:r>
              <a:t>Poincar\'{e-Hopf:} sum of indices equals Euler characteristic $\chi$</a:t>
            </a:r>
          </a:p>
          <a:p>
            <a:pPr>
              <a:spcAft>
                <a:spcPts val="1200"/>
              </a:spcAft>
              <a:defRPr sz="2000">
                <a:solidFill>
                  <a:srgbClr val="303030"/>
                </a:solidFill>
              </a:defRPr>
            </a:pPr>
            <a:r>
              <a:t>Periodic cylinder: $\chi = 0$, so indices must 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937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 i="1">
                <a:solidFill>
                  <a:srgbClr val="404040"/>
                </a:solidFill>
              </a:defRPr>
            </a:pPr>
            <a:r>
              <a:t>index(p) = \frac{1}{2\pi} \oint_{\partial B(p)} d\theta</a:t>
            </a:r>
          </a:p>
          <a:p>
            <a:pPr algn="ctr">
              <a:spcAft>
                <a:spcPts val="800"/>
              </a:spcAft>
              <a:defRPr sz="1800" i="1">
                <a:solidFill>
                  <a:srgbClr val="404040"/>
                </a:solidFill>
              </a:defRPr>
            </a:pPr>
            <a:r>
              <a:t>\sum_i index(p_i) = \chi(\Omega)</a:t>
            </a:r>
          </a:p>
          <a:p>
            <a:pPr algn="ctr">
              <a:spcAft>
                <a:spcPts val="800"/>
              </a:spcAft>
              <a:defRPr sz="1800" i="1">
                <a:solidFill>
                  <a:srgbClr val="404040"/>
                </a:solidFill>
              </a:defRPr>
            </a:pPr>
            <a:r>
              <a:t>-\tfrac{1}{4}</a:t>
            </a:r>
          </a:p>
          <a:p>
            <a:pPr algn="ctr">
              <a:spcAft>
                <a:spcPts val="800"/>
              </a:spcAft>
              <a:defRPr sz="1800" i="1">
                <a:solidFill>
                  <a:srgbClr val="404040"/>
                </a:solidFill>
              </a:defRPr>
            </a:pPr>
            <a:r>
              <a:t>\chi =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i="1">
                <a:solidFill>
                  <a:srgbClr val="606060"/>
                </a:solidFill>
              </a:defRPr>
            </a:pPr>
            <a:r>
              <a:t>Citation: } Kowalski 2015, ``Blocking piecewise-linear domains''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02020"/>
                </a:solidFill>
              </a:defRPr>
            </a:pPr>
            <a:r>
              <a:t>Streamline Integration --- Runge-Kutta-Heun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03030"/>
                </a:solidFill>
              </a:defRPr>
            </a:pPr>
            <a:r>
              <a:t>Integrate along representative vectors emanating from singularities</a:t>
            </a:r>
          </a:p>
          <a:p>
            <a:pPr>
              <a:spcAft>
                <a:spcPts val="1200"/>
              </a:spcAft>
              <a:defRPr sz="2000">
                <a:solidFill>
                  <a:srgbClr val="303030"/>
                </a:solidFill>
              </a:defRPr>
            </a:pPr>
            <a:r>
              <a:t>RK-Heun: 2nd-order accurate, stable near singularities</a:t>
            </a:r>
          </a:p>
          <a:p>
            <a:pPr>
              <a:spcAft>
                <a:spcPts val="1200"/>
              </a:spcAft>
              <a:defRPr sz="2000">
                <a:solidFill>
                  <a:srgbClr val="303030"/>
                </a:solidFill>
              </a:defRPr>
            </a:pPr>
            <a:r>
              <a:t>Terminate on boundary, singularity, or $c_0$ corner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 i="1">
                <a:solidFill>
                  <a:srgbClr val="404040"/>
                </a:solidFill>
              </a:defRPr>
            </a:pPr>
            <a:r>
              <a:t>\mathbf{p}_{n+1} = \mathbf{p}_n + \frac{1}{2}(\mathbf{k}_1 + \mathbf{k}_2)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i="1">
                <a:solidFill>
                  <a:srgbClr val="606060"/>
                </a:solidFill>
              </a:defRPr>
            </a:pPr>
            <a:r>
              <a:t>Citation: } Kowalski 2015, ``Blocking piecewise-linear domains'' (Prop.~9)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02020"/>
                </a:solidFill>
              </a:defRPr>
            </a:pPr>
            <a:r>
              <a:t>Streamline Simplification --- Merging &amp; Splitting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03030"/>
                </a:solidFill>
              </a:defRPr>
            </a:pPr>
            <a:r>
              <a:t>Merge nearby streamlines at singularities (angle criterion)</a:t>
            </a:r>
          </a:p>
          <a:p>
            <a:pPr>
              <a:spcAft>
                <a:spcPts val="1200"/>
              </a:spcAft>
              <a:defRPr sz="2000">
                <a:solidFill>
                  <a:srgbClr val="303030"/>
                </a:solidFill>
              </a:defRPr>
            </a:pPr>
            <a:r>
              <a:t>Split at transversal crossings (T-junctions)</a:t>
            </a:r>
          </a:p>
          <a:p>
            <a:pPr>
              <a:spcAft>
                <a:spcPts val="1200"/>
              </a:spcAft>
              <a:defRPr sz="2000">
                <a:solidFill>
                  <a:srgbClr val="303030"/>
                </a:solidFill>
              </a:defRPr>
            </a:pPr>
            <a:r>
              <a:t>Result: clean quad-only block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 i="1">
                <a:solidFill>
                  <a:srgbClr val="404040"/>
                </a:solidFill>
              </a:defRPr>
            </a:pPr>
            <a:r>
              <a:t>120^\circ \le \alpha \le 240^\circ (3-valent), </a:t>
            </a:r>
            <a:br/>
            <a:r>
              <a:t>144^\circ \le \alpha \le 216^\circ (5-valent)</a:t>
            </a:r>
          </a:p>
          <a:p>
            <a:pPr algn="ctr">
              <a:spcAft>
                <a:spcPts val="800"/>
              </a:spcAft>
              <a:defRPr sz="1800" i="1">
                <a:solidFill>
                  <a:srgbClr val="404040"/>
                </a:solidFill>
              </a:defRPr>
            </a:pPr>
            <a:r>
              <a:t>\gamma_{12}(s) = (1-s)\gamma_1(s) + s\gamma_2(s)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i="1">
                <a:solidFill>
                  <a:srgbClr val="606060"/>
                </a:solidFill>
              </a:defRPr>
            </a:pPr>
            <a:r>
              <a:t>Citation: } Xiao et al.~2020, ``Robust topology decomposition of 2D domains'' (Alg.~2)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02020"/>
                </a:solidFill>
              </a:defRPr>
            </a:pPr>
            <a:r>
              <a:t>Postprocessing --- Periodic Boundary Closure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03030"/>
                </a:solidFill>
              </a:defRPr>
            </a:pPr>
            <a:r>
              <a:t>Collapse 3-sided seam wedges (Xiao-style simplification)</a:t>
            </a:r>
          </a:p>
          <a:p>
            <a:pPr>
              <a:spcAft>
                <a:spcPts val="1200"/>
              </a:spcAft>
              <a:defRPr sz="2000">
                <a:solidFill>
                  <a:srgbClr val="303030"/>
                </a:solidFill>
              </a:defRPr>
            </a:pPr>
            <a:r>
              <a:t>Master-slave seam conformity (DLR Sauer/Morsbach 2023 sec 2.7)</a:t>
            </a:r>
          </a:p>
          <a:p>
            <a:pPr>
              <a:spcAft>
                <a:spcPts val="1200"/>
              </a:spcAft>
              <a:defRPr sz="2000">
                <a:solidFill>
                  <a:srgbClr val="303030"/>
                </a:solidFill>
              </a:defRPr>
            </a:pPr>
            <a:r>
              <a:t>Result: periodic block structure with conforming seam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i="1">
                <a:solidFill>
                  <a:srgbClr val="606060"/>
                </a:solidFill>
              </a:defRPr>
            </a:pPr>
            <a:r>
              <a:t>Citation: } Sauer/Morsbach 2023, ``Automated blocking for turbomachinery'', sec 2.7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02020"/>
                </a:solidFill>
              </a:defRPr>
            </a:pPr>
            <a:r>
              <a:t>Transfinite Interpolation --- Coons Patch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03030"/>
                </a:solidFill>
              </a:defRPr>
            </a:pPr>
            <a:r>
              <a:t>Bilinear interpolation from 4 boundary curves</a:t>
            </a:r>
          </a:p>
          <a:p>
            <a:pPr>
              <a:spcAft>
                <a:spcPts val="1200"/>
              </a:spcAft>
              <a:defRPr sz="2000">
                <a:solidFill>
                  <a:srgbClr val="303030"/>
                </a:solidFill>
              </a:defRPr>
            </a:pPr>
            <a:r>
              <a:t>Guarantees $C^0$ continuity at block edges</a:t>
            </a:r>
          </a:p>
          <a:p>
            <a:pPr>
              <a:spcAft>
                <a:spcPts val="1200"/>
              </a:spcAft>
              <a:defRPr sz="2000">
                <a:solidFill>
                  <a:srgbClr val="303030"/>
                </a:solidFill>
              </a:defRPr>
            </a:pPr>
            <a:r>
              <a:t>Cell counts solved conforming: opposite sides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i="1">
                <a:solidFill>
                  <a:srgbClr val="606060"/>
                </a:solidFill>
              </a:defRPr>
            </a:pPr>
            <a:r>
              <a:t>Citation: } Coons 1967, ``Surfaces for Computer-Aided Design''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02020"/>
                </a:solidFill>
              </a:defRPr>
            </a:pPr>
            <a:r>
              <a:t>Periodic Boundaries --- 3$\times$ Tiled Passages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03030"/>
                </a:solidFill>
              </a:defRPr>
            </a:pPr>
            <a:r>
              <a:t>3 passages tiled: shifts $-pitch$, $0$, $+pitch$</a:t>
            </a:r>
          </a:p>
          <a:p>
            <a:pPr>
              <a:spcAft>
                <a:spcPts val="1200"/>
              </a:spcAft>
              <a:defRPr sz="2000">
                <a:solidFill>
                  <a:srgbClr val="303030"/>
                </a:solidFill>
              </a:defRPr>
            </a:pPr>
            <a:r>
              <a:t>Interior seams: grid points of neighboring copies coincide (CFD-conforming)</a:t>
            </a:r>
          </a:p>
          <a:p>
            <a:pPr>
              <a:spcAft>
                <a:spcPts val="1200"/>
              </a:spcAft>
              <a:defRPr sz="2000">
                <a:solidFill>
                  <a:srgbClr val="303030"/>
                </a:solidFill>
              </a:defRPr>
            </a:pPr>
            <a:r>
              <a:t>Visual check: master-slave conformity confirmed by overlay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 i="1">
                <a:solidFill>
                  <a:srgbClr val="404040"/>
                </a:solidFill>
              </a:defRPr>
            </a:pPr>
            <a:r>
              <a:t>-pitch</a:t>
            </a:r>
          </a:p>
          <a:p>
            <a:pPr algn="ctr">
              <a:spcAft>
                <a:spcPts val="800"/>
              </a:spcAft>
              <a:defRPr sz="1800" i="1">
                <a:solidFill>
                  <a:srgbClr val="404040"/>
                </a:solidFill>
              </a:defRPr>
            </a:pPr>
            <a:r>
              <a:t>+pitch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i="1">
                <a:solidFill>
                  <a:srgbClr val="606060"/>
                </a:solidFill>
              </a:defRPr>
            </a:pPr>
            <a:r>
              <a:t>Citation: } DLR Sauer/Morsbach 2023, sec 2.7 master-slave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